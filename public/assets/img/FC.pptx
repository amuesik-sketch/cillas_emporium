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1" r:id="rId3"/>
    <p:sldId id="280" r:id="rId5"/>
    <p:sldId id="257" r:id="rId6"/>
    <p:sldId id="268" r:id="rId7"/>
    <p:sldId id="258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CG41N840206042" descr="绿色的田地&#10;&#10;描述已自动生成"/>
          <p:cNvPicPr>
            <a:picLocks noChangeAspect="1"/>
          </p:cNvPicPr>
          <p:nvPr/>
        </p:nvPicPr>
        <p:blipFill>
          <a:blip r:embed="rId1" cstate="email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1" r="641"/>
          <a:stretch>
            <a:fillRect/>
          </a:stretch>
        </p:blipFill>
        <p:spPr>
          <a:xfrm flipH="1">
            <a:off x="0" y="857250"/>
            <a:ext cx="9144002" cy="5143500"/>
          </a:xfrm>
          <a:prstGeom prst="rect">
            <a:avLst/>
          </a:prstGeom>
        </p:spPr>
      </p:pic>
      <p:sp>
        <p:nvSpPr>
          <p:cNvPr id="12" name="矩形: 圆角 11"/>
          <p:cNvSpPr/>
          <p:nvPr/>
        </p:nvSpPr>
        <p:spPr>
          <a:xfrm>
            <a:off x="-64135" y="635"/>
            <a:ext cx="920813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B050"/>
              </a:gs>
              <a:gs pos="100000">
                <a:srgbClr val="00CC66">
                  <a:alpha val="0"/>
                </a:srgb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框 4"/>
          <p:cNvSpPr txBox="1"/>
          <p:nvPr/>
        </p:nvSpPr>
        <p:spPr>
          <a:xfrm>
            <a:off x="595630" y="1249045"/>
            <a:ext cx="7952740" cy="3186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ctr"/>
            <a:r>
              <a:rPr lang="en-US" altLang="zh-CN" sz="6000" b="0" i="0" u="none" strike="noStrike" dirty="0">
                <a:solidFill>
                  <a:schemeClr val="bg1"/>
                </a:solidFill>
                <a:effectLst/>
                <a:latin typeface="Times New Roman" panose="02020603050405020304" charset="0"/>
                <a:ea typeface="Gilroy" panose="00000400000000000000" charset="0"/>
                <a:cs typeface="Times New Roman" panose="02020603050405020304" charset="0"/>
              </a:rPr>
              <a:t>CYBER SECURITY AWARENESS CAMPAIGN</a:t>
            </a:r>
            <a:endParaRPr lang="en-US" altLang="zh-CN" sz="6000" b="0" i="0" u="none" strike="noStrike" dirty="0">
              <a:solidFill>
                <a:schemeClr val="bg1"/>
              </a:solidFill>
              <a:effectLst/>
              <a:latin typeface="Times New Roman" panose="02020603050405020304" charset="0"/>
              <a:ea typeface="Gilroy" panose="00000400000000000000" charset="0"/>
              <a:cs typeface="Times New Roman" panose="02020603050405020304" charset="0"/>
            </a:endParaRPr>
          </a:p>
          <a:p>
            <a:pPr marL="3657600" lvl="8" indent="457200" fontAlgn="ctr"/>
            <a:endParaRPr lang="en-US" altLang="zh-CN" sz="6000" b="0" i="0" u="none" strike="noStrike" dirty="0">
              <a:solidFill>
                <a:schemeClr val="bg1"/>
              </a:solidFill>
              <a:effectLst/>
              <a:latin typeface="Times New Roman" panose="02020603050405020304" charset="0"/>
              <a:ea typeface="Gilroy" panose="00000400000000000000" charset="0"/>
              <a:cs typeface="Times New Roman" panose="02020603050405020304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64028" y="4186294"/>
            <a:ext cx="162452" cy="137323"/>
          </a:xfrm>
          <a:custGeom>
            <a:avLst/>
            <a:gdLst>
              <a:gd name="connsiteX0" fmla="*/ 906085 w 1703575"/>
              <a:gd name="connsiteY0" fmla="*/ 0 h 1440057"/>
              <a:gd name="connsiteX1" fmla="*/ 1031647 w 1703575"/>
              <a:gd name="connsiteY1" fmla="*/ 50825 h 1440057"/>
              <a:gd name="connsiteX2" fmla="*/ 1703575 w 1703575"/>
              <a:gd name="connsiteY2" fmla="*/ 721723 h 1440057"/>
              <a:gd name="connsiteX3" fmla="*/ 1031647 w 1703575"/>
              <a:gd name="connsiteY3" fmla="*/ 1385843 h 1440057"/>
              <a:gd name="connsiteX4" fmla="*/ 902691 w 1703575"/>
              <a:gd name="connsiteY4" fmla="*/ 1440057 h 1440057"/>
              <a:gd name="connsiteX5" fmla="*/ 780522 w 1703575"/>
              <a:gd name="connsiteY5" fmla="*/ 1385843 h 1440057"/>
              <a:gd name="connsiteX6" fmla="*/ 780522 w 1703575"/>
              <a:gd name="connsiteY6" fmla="*/ 1135104 h 1440057"/>
              <a:gd name="connsiteX7" fmla="*/ 1011285 w 1703575"/>
              <a:gd name="connsiteY7" fmla="*/ 904695 h 1440057"/>
              <a:gd name="connsiteX8" fmla="*/ 183253 w 1703575"/>
              <a:gd name="connsiteY8" fmla="*/ 904695 h 1440057"/>
              <a:gd name="connsiteX9" fmla="*/ 0 w 1703575"/>
              <a:gd name="connsiteY9" fmla="*/ 721723 h 1440057"/>
              <a:gd name="connsiteX10" fmla="*/ 183253 w 1703575"/>
              <a:gd name="connsiteY10" fmla="*/ 538751 h 1440057"/>
              <a:gd name="connsiteX11" fmla="*/ 1011285 w 1703575"/>
              <a:gd name="connsiteY11" fmla="*/ 538751 h 1440057"/>
              <a:gd name="connsiteX12" fmla="*/ 780522 w 1703575"/>
              <a:gd name="connsiteY12" fmla="*/ 308342 h 1440057"/>
              <a:gd name="connsiteX13" fmla="*/ 780522 w 1703575"/>
              <a:gd name="connsiteY13" fmla="*/ 50825 h 1440057"/>
              <a:gd name="connsiteX14" fmla="*/ 906085 w 1703575"/>
              <a:gd name="connsiteY14" fmla="*/ 0 h 14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03575" h="1440057">
                <a:moveTo>
                  <a:pt x="906085" y="0"/>
                </a:moveTo>
                <a:cubicBezTo>
                  <a:pt x="951898" y="0"/>
                  <a:pt x="997711" y="16942"/>
                  <a:pt x="1031647" y="50825"/>
                </a:cubicBezTo>
                <a:lnTo>
                  <a:pt x="1703575" y="721723"/>
                </a:lnTo>
                <a:lnTo>
                  <a:pt x="1031647" y="1385843"/>
                </a:lnTo>
                <a:cubicBezTo>
                  <a:pt x="997711" y="1426504"/>
                  <a:pt x="950201" y="1440057"/>
                  <a:pt x="902691" y="1440057"/>
                </a:cubicBezTo>
                <a:cubicBezTo>
                  <a:pt x="861968" y="1440057"/>
                  <a:pt x="814458" y="1426504"/>
                  <a:pt x="780522" y="1385843"/>
                </a:cubicBezTo>
                <a:cubicBezTo>
                  <a:pt x="705864" y="1318076"/>
                  <a:pt x="705864" y="1202871"/>
                  <a:pt x="780522" y="1135104"/>
                </a:cubicBezTo>
                <a:lnTo>
                  <a:pt x="1011285" y="904695"/>
                </a:lnTo>
                <a:lnTo>
                  <a:pt x="183253" y="904695"/>
                </a:lnTo>
                <a:cubicBezTo>
                  <a:pt x="81446" y="904695"/>
                  <a:pt x="0" y="823374"/>
                  <a:pt x="0" y="721723"/>
                </a:cubicBezTo>
                <a:cubicBezTo>
                  <a:pt x="0" y="620072"/>
                  <a:pt x="81446" y="538751"/>
                  <a:pt x="183253" y="538751"/>
                </a:cubicBezTo>
                <a:lnTo>
                  <a:pt x="1011285" y="538751"/>
                </a:lnTo>
                <a:lnTo>
                  <a:pt x="780522" y="308342"/>
                </a:lnTo>
                <a:cubicBezTo>
                  <a:pt x="705864" y="240574"/>
                  <a:pt x="705864" y="125370"/>
                  <a:pt x="780522" y="50825"/>
                </a:cubicBezTo>
                <a:cubicBezTo>
                  <a:pt x="814458" y="16942"/>
                  <a:pt x="860271" y="0"/>
                  <a:pt x="9060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7" name="文本框 26"/>
          <p:cNvSpPr txBox="1"/>
          <p:nvPr/>
        </p:nvSpPr>
        <p:spPr>
          <a:xfrm>
            <a:off x="516731" y="4612481"/>
            <a:ext cx="8068628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SLOGAN : THINK BEFORE YOU CLICK - STAY SAFE ONLINE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 descr="im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" y="555625"/>
            <a:ext cx="1283970" cy="613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>
                <a:latin typeface="Times New Roman" panose="02020603050405020304" charset="0"/>
                <a:cs typeface="Times New Roman" panose="02020603050405020304" charset="0"/>
              </a:rPr>
              <a:t>Introduction </a:t>
            </a:r>
            <a:endParaRPr lang="en-US" altLang="en-US" sz="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65275"/>
            <a:ext cx="6347460" cy="447611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4000" b="1">
                <a:latin typeface="Times New Roman" panose="02020603050405020304" charset="0"/>
                <a:cs typeface="Times New Roman" panose="02020603050405020304" charset="0"/>
              </a:rPr>
              <a:t>•What is cybersecurity ?</a:t>
            </a:r>
            <a:endParaRPr lang="en-US" altLang="en-US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4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Cybersecurity is the practice of protecting systems, networks, and programs from digital attacks.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 This campaign aims to promote safe ICT practices within the Forestry Commission.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b="1" dirty="0"/>
              <a:t>Campaign slogan -</a:t>
            </a:r>
            <a:br>
              <a:rPr lang="en-US" altLang="en-US" sz="2800" b="1" dirty="0"/>
            </a:br>
            <a:r>
              <a:rPr lang="en-US" altLang="en-US" sz="2800" b="1" dirty="0"/>
              <a:t>Think Before You Click – Stay Safe Online.</a:t>
            </a:r>
            <a:br>
              <a:rPr lang="en-US" altLang="en-US" sz="2800" b="1" dirty="0"/>
            </a:br>
            <a:endParaRPr lang="en-US" alt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 Cyber Security Awareness Committee (CyberSAC) at Eastern Michigan University launched a multi-year ‘E-Safe’ campaign in October 2013, promoting this phrase.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We chose this slogan because the easiest way a person is affected by a cyberattack is through clicking.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 slogan encourages staff and fellow NSPs to be cautious or guarded when using computers and the internet.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Target audience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33220"/>
            <a:ext cx="6347460" cy="4408170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Forestry Commission staff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NSP’S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ICT users at all levels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ICT Directorate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Provides ICT services across all FC departments</a:t>
            </a:r>
            <a:endParaRPr dirty="0"/>
          </a:p>
          <a:p>
            <a:r>
              <a:rPr dirty="0"/>
              <a:t>Supports digital transformation and data-driven decision-making</a:t>
            </a:r>
            <a:endParaRPr lang="en-US" dirty="0"/>
          </a:p>
          <a:p>
            <a:r>
              <a:rPr dirty="0"/>
              <a:t> Ensures systems, networks, and applications run efficiently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Our Unit Stands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Research and integration of Emerging Technologies</a:t>
            </a:r>
            <a:endParaRPr dirty="0"/>
          </a:p>
          <a:p>
            <a:r>
              <a:rPr dirty="0"/>
              <a:t>Coordination of ICT Zonal and Unit Activities</a:t>
            </a:r>
            <a:endParaRPr dirty="0"/>
          </a:p>
          <a:p>
            <a:r>
              <a:rPr dirty="0"/>
              <a:t>Ensuring consistency, accountability, and innovation in ICT service delivery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Strategic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Plan, manage &amp; coordinate emerging technologies and zonal activities</a:t>
            </a:r>
            <a:endParaRPr dirty="0"/>
          </a:p>
          <a:p>
            <a:r>
              <a:rPr dirty="0"/>
              <a:t> Research into emerging technologies</a:t>
            </a:r>
            <a:endParaRPr dirty="0"/>
          </a:p>
          <a:p>
            <a:r>
              <a:rPr dirty="0"/>
              <a:t> Develop proposals and coordinate proposed ICT projects</a:t>
            </a:r>
            <a:endParaRPr dirty="0"/>
          </a:p>
          <a:p>
            <a:r>
              <a:rPr dirty="0"/>
              <a:t> Evaluate ICT strategies and zonal operations</a:t>
            </a:r>
            <a:endParaRPr dirty="0"/>
          </a:p>
          <a:p>
            <a:r>
              <a:rPr dirty="0"/>
              <a:t> Coordinate &amp; consolidate ICT reports, budgets, and training</a:t>
            </a:r>
            <a:endParaRPr dirty="0"/>
          </a:p>
          <a:p>
            <a:r>
              <a:rPr dirty="0"/>
              <a:t>Undertake ICT awareness creation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Emerging Technologies We Focus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Artificial Intelligence (AI) and Automation</a:t>
            </a:r>
            <a:endParaRPr dirty="0"/>
          </a:p>
          <a:p>
            <a:r>
              <a:rPr dirty="0"/>
              <a:t>Internet of Things (IoT)</a:t>
            </a:r>
            <a:endParaRPr dirty="0"/>
          </a:p>
          <a:p>
            <a:r>
              <a:rPr dirty="0"/>
              <a:t>Cloud computing</a:t>
            </a:r>
            <a:endParaRPr dirty="0"/>
          </a:p>
          <a:p>
            <a:r>
              <a:rPr dirty="0"/>
              <a:t>Geographic Information Systems (GIS)</a:t>
            </a:r>
            <a:endParaRPr lang="en-US" dirty="0"/>
          </a:p>
          <a:p>
            <a:r>
              <a:rPr dirty="0"/>
              <a:t> Cybersecurity tools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Coordinate ICT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Liaison between ICT Directorate and zonal ICT officers</a:t>
            </a:r>
            <a:endParaRPr dirty="0"/>
          </a:p>
          <a:p>
            <a:r>
              <a:rPr dirty="0"/>
              <a:t>Collect and review zonal reports</a:t>
            </a:r>
            <a:endParaRPr dirty="0"/>
          </a:p>
          <a:p>
            <a:r>
              <a:rPr dirty="0"/>
              <a:t>Standardize performance tracking and documentation</a:t>
            </a:r>
            <a:endParaRPr dirty="0"/>
          </a:p>
          <a:p>
            <a:r>
              <a:rPr dirty="0"/>
              <a:t>Support with training, meetings, and budget planning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Interns’ Role During Attachment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Participate in technology research tasks</a:t>
            </a:r>
            <a:endParaRPr dirty="0"/>
          </a:p>
          <a:p>
            <a:r>
              <a:rPr dirty="0"/>
              <a:t>Assist in data entry</a:t>
            </a:r>
            <a:r>
              <a:rPr lang="en-US" dirty="0"/>
              <a:t> and </a:t>
            </a:r>
            <a:r>
              <a:rPr dirty="0"/>
              <a:t>documentation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You’ll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Research and analytical skills</a:t>
            </a:r>
            <a:endParaRPr dirty="0"/>
          </a:p>
          <a:p>
            <a:r>
              <a:rPr dirty="0"/>
              <a:t>Proposal writing and reporting</a:t>
            </a:r>
            <a:endParaRPr dirty="0"/>
          </a:p>
          <a:p>
            <a:r>
              <a:rPr dirty="0"/>
              <a:t>ICT coordination and communication</a:t>
            </a:r>
            <a:endParaRPr dirty="0"/>
          </a:p>
          <a:p>
            <a:r>
              <a:rPr dirty="0"/>
              <a:t>Presentation and teamwork skills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Expectations &amp; Code of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Teamwork and communication</a:t>
            </a:r>
            <a:endParaRPr dirty="0"/>
          </a:p>
          <a:p>
            <a:r>
              <a:rPr dirty="0"/>
              <a:t>Confidentiality and ethical conduct</a:t>
            </a:r>
            <a:endParaRPr lang="en-US" dirty="0"/>
          </a:p>
          <a:p>
            <a:r>
              <a:rPr dirty="0"/>
              <a:t> Curiosity and initiative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“Technology drives sustainability.”</a:t>
            </a:r>
          </a:p>
          <a:p>
            <a:r>
              <a:t>Welcome once again to the team!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QUESTIONS???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yourselves into groups of 4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Emerging Technology Research Content:</a:t>
            </a:r>
            <a:endParaRPr lang="en-US" dirty="0"/>
          </a:p>
          <a:p>
            <a:r>
              <a:rPr lang="en-US" dirty="0"/>
              <a:t>Research one emerging technology (AI, IoT, Blockchain, Cloud, etc.)</a:t>
            </a:r>
            <a:endParaRPr lang="en-US" dirty="0"/>
          </a:p>
          <a:p>
            <a:r>
              <a:rPr lang="en-US" dirty="0"/>
              <a:t>Write a one-page report on how it can improve forestry management or environmental monitoring.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ICT Awareness Concept Content:</a:t>
            </a:r>
            <a:endParaRPr lang="en-US" dirty="0"/>
          </a:p>
          <a:p>
            <a:r>
              <a:rPr lang="en-US" dirty="0"/>
              <a:t>Design a short ICT Awareness Campaign (e.g., cybersecurity or data protection).Include slogan, target audience, and communication method.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ICT Project Proposal Content:</a:t>
            </a:r>
            <a:endParaRPr lang="en-US" dirty="0"/>
          </a:p>
          <a:p>
            <a:r>
              <a:rPr lang="en-US" dirty="0"/>
              <a:t>Draft a 2-page mini proposal for an ICT-related project for the Forestry </a:t>
            </a:r>
            <a:r>
              <a:rPr lang="en-US" dirty="0" err="1"/>
              <a:t>Commission.Include</a:t>
            </a:r>
            <a:r>
              <a:rPr lang="en-US" dirty="0"/>
              <a:t>: Problem, Solution, and Expected Benefits.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Reporting &amp; Evaluation Content:</a:t>
            </a:r>
            <a:endParaRPr lang="en-US" dirty="0"/>
          </a:p>
          <a:p>
            <a:r>
              <a:rPr lang="en-US" dirty="0"/>
              <a:t>Prepare a sample ICT Zonal Report .Include performance indicators, challenges, and recommendations.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3139</Words>
  <Application>WPS Presentation</Application>
  <PresentationFormat>On-screen Show (4:3)</PresentationFormat>
  <Paragraphs>116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SimSun</vt:lpstr>
      <vt:lpstr>Wingdings</vt:lpstr>
      <vt:lpstr>Wingdings 3</vt:lpstr>
      <vt:lpstr>Symbol</vt:lpstr>
      <vt:lpstr>Arial</vt:lpstr>
      <vt:lpstr>Trebuchet MS</vt:lpstr>
      <vt:lpstr>Microsoft YaHei</vt:lpstr>
      <vt:lpstr>Arial Unicode MS</vt:lpstr>
      <vt:lpstr>Calibri</vt:lpstr>
      <vt:lpstr>Gilroy</vt:lpstr>
      <vt:lpstr>Segoe Print</vt:lpstr>
      <vt:lpstr>Times New Roman</vt:lpstr>
      <vt:lpstr>华文新魏</vt:lpstr>
      <vt:lpstr>Wingdings</vt:lpstr>
      <vt:lpstr>Facet</vt:lpstr>
      <vt:lpstr>PowerPoint 演示文稿</vt:lpstr>
      <vt:lpstr>PowerPoint 演示文稿</vt:lpstr>
      <vt:lpstr>Overview of the ICT Directorate’s Mission and Vision</vt:lpstr>
      <vt:lpstr>Importance of technology in Forestry Commission’s operations</vt:lpstr>
      <vt:lpstr>About the ICT Directorate</vt:lpstr>
      <vt:lpstr>What Our Unit Stands For</vt:lpstr>
      <vt:lpstr>Our Strategic Objectives</vt:lpstr>
      <vt:lpstr>Emerging Technologies We Focus On</vt:lpstr>
      <vt:lpstr>How We Coordinate ICT Zones</vt:lpstr>
      <vt:lpstr>Interns’ Role During Attachment</vt:lpstr>
      <vt:lpstr>Skills You’ll Gain</vt:lpstr>
      <vt:lpstr>Expectations &amp; Code of Conduct</vt:lpstr>
      <vt:lpstr>Conclusion</vt:lpstr>
      <vt:lpstr>PowerPoint 演示文稿</vt:lpstr>
      <vt:lpstr>ACTIVITY</vt:lpstr>
      <vt:lpstr>ASSIGNMENT 1</vt:lpstr>
      <vt:lpstr>ASSIGNMENT 2</vt:lpstr>
      <vt:lpstr>ASSIGNMENT 3</vt:lpstr>
      <vt:lpstr>ASSIGNMENT 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Orientation for ICT Interns</dc:title>
  <dc:creator/>
  <dc:description>generated using python-pptx</dc:description>
  <cp:lastModifiedBy>Kevin Amuesi</cp:lastModifiedBy>
  <cp:revision>10</cp:revision>
  <dcterms:created xsi:type="dcterms:W3CDTF">2013-01-27T09:14:00Z</dcterms:created>
  <dcterms:modified xsi:type="dcterms:W3CDTF">2025-12-17T16:57:21Z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DDA73686E847416C85DF843BA73B5A44_12</vt:lpwstr>
  </property>
  <property fmtid="{D5CDD505-2E9C-101B-9397-08002B2CF9AE}" pid="3" name="KSOProductBuildVer">
    <vt:lpwstr>1033-12.2.0.23155</vt:lpwstr>
  </property>
</Properties>
</file>